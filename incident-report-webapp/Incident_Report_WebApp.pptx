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E24A4A"/>
              </a:solidFill>
              <a:effectLst/>
            </c:spPr>
          </c:dPt>
          <c:dPt>
            <c:idx val="1"/>
            <c:bubble3D val="0"/>
            <c:spPr>
              <a:solidFill>
                <a:srgbClr val="00A896"/>
              </a:solidFill>
              <a:effectLst/>
            </c:spPr>
          </c:dPt>
          <c:dPt>
            <c:idx val="2"/>
            <c:bubble3D val="0"/>
            <c:spPr>
              <a:solidFill>
                <a:srgbClr val="9AA6B2"/>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v>
                </c:pt>
                <c:pt idx="1">
                  <c:v>Medium</c:v>
                </c:pt>
                <c:pt idx="2">
                  <c:v>Low</c:v>
                </c:pt>
              </c:strCache>
            </c:strRef>
          </c:cat>
          <c:val>
            <c:numRef>
              <c:f>Sheet1!$B$2:$B$4</c:f>
              <c:numCache>
                <c:ptCount val="3"/>
                <c:pt idx="0">
                  <c:v>25</c:v>
                </c:pt>
                <c:pt idx="1">
                  <c:v>50</c:v>
                </c:pt>
                <c:pt idx="2">
                  <c:v>25</c:v>
                </c:pt>
              </c:numCache>
            </c:numRef>
          </c:val>
        </c:ser>
        <c:firstSliceAng val="0"/>
        <c:holeSize val="58"/>
      </c:doughnutChart>
      <c:spPr>
        <a:noFill/>
        <a:ln>
          <a:noFill/>
        </a:ln>
        <a:effectLst/>
      </c:spPr>
    </c:plotArea>
    <c:legend>
      <c:legendPos val="b"/>
      <c:overlay val="0"/>
      <c:txPr>
        <a:bodyPr/>
        <a:lstStyle/>
        <a:p>
          <a:pPr>
            <a:defRPr>
              <a:solidFill>
                <a:srgbClr val="14312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312E"/>
        </a:solidFill>
      </p:bgPr>
    </p:bg>
    <p:spTree>
      <p:nvGrpSpPr>
        <p:cNvPr id="1" name=""/>
        <p:cNvGrpSpPr/>
        <p:nvPr/>
      </p:nvGrpSpPr>
      <p:grpSpPr>
        <a:xfrm>
          <a:off x="0" y="0"/>
          <a:ext cx="0" cy="0"/>
          <a:chOff x="0" y="0"/>
          <a:chExt cx="0" cy="0"/>
        </a:xfrm>
      </p:grpSpPr>
      <p:sp>
        <p:nvSpPr>
          <p:cNvPr id="2" name="Shape 0"/>
          <p:cNvSpPr/>
          <p:nvPr/>
        </p:nvSpPr>
        <p:spPr>
          <a:xfrm>
            <a:off x="6858000" y="-1280160"/>
            <a:ext cx="4206240" cy="4206240"/>
          </a:xfrm>
          <a:prstGeom prst="ellipse">
            <a:avLst/>
          </a:prstGeom>
          <a:solidFill>
            <a:srgbClr val="00A896">
              <a:alpha val="18000"/>
            </a:srgbClr>
          </a:solidFill>
          <a:ln/>
        </p:spPr>
      </p:sp>
      <p:sp>
        <p:nvSpPr>
          <p:cNvPr id="3" name="Shape 1"/>
          <p:cNvSpPr/>
          <p:nvPr/>
        </p:nvSpPr>
        <p:spPr>
          <a:xfrm>
            <a:off x="8229600" y="2926080"/>
            <a:ext cx="2926080" cy="2926080"/>
          </a:xfrm>
          <a:prstGeom prst="ellipse">
            <a:avLst/>
          </a:prstGeom>
          <a:solidFill>
            <a:srgbClr val="028090">
              <a:alpha val="40000"/>
            </a:srgbClr>
          </a:solidFill>
          <a:ln/>
        </p:spPr>
      </p:sp>
      <p:sp>
        <p:nvSpPr>
          <p:cNvPr id="4" name="Text 2"/>
          <p:cNvSpPr/>
          <p:nvPr/>
        </p:nvSpPr>
        <p:spPr>
          <a:xfrm>
            <a:off x="640080" y="960120"/>
            <a:ext cx="7315200" cy="365760"/>
          </a:xfrm>
          <a:prstGeom prst="rect">
            <a:avLst/>
          </a:prstGeom>
          <a:noFill/>
          <a:ln/>
        </p:spPr>
        <p:txBody>
          <a:bodyPr wrap="square" lIns="0" tIns="0" rIns="0" bIns="0" rtlCol="0" anchor="ctr"/>
          <a:lstStyle/>
          <a:p>
            <a:pPr indent="0" marL="0">
              <a:buNone/>
            </a:pPr>
            <a:r>
              <a:rPr lang="en-US" sz="1400" b="1" spc="300" kern="0" dirty="0">
                <a:solidFill>
                  <a:srgbClr val="00A896"/>
                </a:solidFill>
                <a:latin typeface="Calibri" pitchFamily="34" charset="0"/>
                <a:ea typeface="Calibri" pitchFamily="34" charset="-122"/>
                <a:cs typeface="Calibri" pitchFamily="34" charset="-120"/>
              </a:rPr>
              <a:t>SOFTWARE ENGINEERING · FRONTEND</a:t>
            </a:r>
            <a:endParaRPr lang="en-US" sz="1400" dirty="0"/>
          </a:p>
        </p:txBody>
      </p:sp>
      <p:sp>
        <p:nvSpPr>
          <p:cNvPr id="5" name="Text 3"/>
          <p:cNvSpPr/>
          <p:nvPr/>
        </p:nvSpPr>
        <p:spPr>
          <a:xfrm>
            <a:off x="640080" y="1371600"/>
            <a:ext cx="7863840" cy="1737360"/>
          </a:xfrm>
          <a:prstGeom prst="rect">
            <a:avLst/>
          </a:prstGeom>
          <a:noFill/>
          <a:ln/>
        </p:spPr>
        <p:txBody>
          <a:bodyPr wrap="square" lIns="0" tIns="0" rIns="0" bIns="0" rtlCol="0" anchor="ctr"/>
          <a:lstStyle/>
          <a:p>
            <a:pPr indent="0" marL="0">
              <a:lnSpc>
                <a:spcPct val="95000"/>
              </a:lnSpc>
              <a:buNone/>
            </a:pPr>
            <a:r>
              <a:rPr lang="en-US" sz="4000" b="1" dirty="0">
                <a:solidFill>
                  <a:srgbClr val="FFFFFF"/>
                </a:solidFill>
                <a:latin typeface="Century Schoolbook" pitchFamily="34" charset="0"/>
                <a:ea typeface="Century Schoolbook" pitchFamily="34" charset="-122"/>
                <a:cs typeface="Century Schoolbook" pitchFamily="34" charset="-120"/>
              </a:rPr>
              <a:t>Incident Report Log</a:t>
            </a:r>
            <a:endParaRPr lang="en-US" sz="4000" dirty="0"/>
          </a:p>
        </p:txBody>
      </p:sp>
      <p:sp>
        <p:nvSpPr>
          <p:cNvPr id="6" name="Text 4"/>
          <p:cNvSpPr/>
          <p:nvPr/>
        </p:nvSpPr>
        <p:spPr>
          <a:xfrm>
            <a:off x="658368" y="3246120"/>
            <a:ext cx="7680960" cy="822960"/>
          </a:xfrm>
          <a:prstGeom prst="rect">
            <a:avLst/>
          </a:prstGeom>
          <a:noFill/>
          <a:ln/>
        </p:spPr>
        <p:txBody>
          <a:bodyPr wrap="square" lIns="0" tIns="0" rIns="0" bIns="0" rtlCol="0" anchor="ctr"/>
          <a:lstStyle/>
          <a:p>
            <a:pPr indent="0" marL="0">
              <a:buNone/>
            </a:pPr>
            <a:r>
              <a:rPr lang="en-US" sz="1600" dirty="0">
                <a:solidFill>
                  <a:srgbClr val="D9E2EC"/>
                </a:solidFill>
                <a:latin typeface="Calibri" pitchFamily="34" charset="0"/>
                <a:ea typeface="Calibri" pitchFamily="34" charset="-122"/>
                <a:cs typeface="Calibri" pitchFamily="34" charset="-120"/>
              </a:rPr>
              <a:t>A responsive single-page app in vanilla HTML, CSS, and JavaScript — no framework, no build step.</a:t>
            </a:r>
            <a:endParaRPr lang="en-US" sz="1600" dirty="0"/>
          </a:p>
        </p:txBody>
      </p:sp>
      <p:sp>
        <p:nvSpPr>
          <p:cNvPr id="7" name="Text 5"/>
          <p:cNvSpPr/>
          <p:nvPr/>
        </p:nvSpPr>
        <p:spPr>
          <a:xfrm>
            <a:off x="658368" y="4572000"/>
            <a:ext cx="8229600" cy="365760"/>
          </a:xfrm>
          <a:prstGeom prst="rect">
            <a:avLst/>
          </a:prstGeom>
          <a:noFill/>
          <a:ln/>
        </p:spPr>
        <p:txBody>
          <a:bodyPr wrap="square" lIns="0" tIns="0" rIns="0" bIns="0" rtlCol="0" anchor="ctr"/>
          <a:lstStyle/>
          <a:p>
            <a:pPr indent="0" marL="0">
              <a:buNone/>
            </a:pPr>
            <a:r>
              <a:rPr lang="en-US" sz="1200" dirty="0">
                <a:solidFill>
                  <a:srgbClr val="00A896"/>
                </a:solidFill>
                <a:latin typeface="Calibri" pitchFamily="34" charset="0"/>
                <a:ea typeface="Calibri" pitchFamily="34" charset="-122"/>
                <a:cs typeface="Calibri" pitchFamily="34" charset="-120"/>
              </a:rPr>
              <a:t>Yusuf Hakeem · yusufhakeem.app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AF8"/>
        </a:solidFill>
      </p:bgPr>
    </p:bg>
    <p:spTree>
      <p:nvGrpSpPr>
        <p:cNvPr id="1" name=""/>
        <p:cNvGrpSpPr/>
        <p:nvPr/>
      </p:nvGrpSpPr>
      <p:grpSpPr>
        <a:xfrm>
          <a:off x="0" y="0"/>
          <a:ext cx="0" cy="0"/>
          <a:chOff x="0" y="0"/>
          <a:chExt cx="0" cy="0"/>
        </a:xfrm>
      </p:grpSpPr>
      <p:sp>
        <p:nvSpPr>
          <p:cNvPr id="2" name="Text 0"/>
          <p:cNvSpPr/>
          <p:nvPr/>
        </p:nvSpPr>
        <p:spPr>
          <a:xfrm>
            <a:off x="548640" y="384048"/>
            <a:ext cx="8229600" cy="640080"/>
          </a:xfrm>
          <a:prstGeom prst="rect">
            <a:avLst/>
          </a:prstGeom>
          <a:noFill/>
          <a:ln/>
        </p:spPr>
        <p:txBody>
          <a:bodyPr wrap="square" lIns="0" tIns="0" rIns="0" bIns="0" rtlCol="0" anchor="ctr"/>
          <a:lstStyle/>
          <a:p>
            <a:pPr indent="0" marL="0">
              <a:buNone/>
            </a:pPr>
            <a:r>
              <a:rPr lang="en-US" sz="2800" b="1" dirty="0">
                <a:solidFill>
                  <a:srgbClr val="028090"/>
                </a:solidFill>
                <a:latin typeface="Century Schoolbook" pitchFamily="34" charset="0"/>
                <a:ea typeface="Century Schoolbook" pitchFamily="34" charset="-122"/>
                <a:cs typeface="Century Schoolbook" pitchFamily="34" charset="-120"/>
              </a:rPr>
              <a:t>Overview</a:t>
            </a:r>
            <a:endParaRPr lang="en-US" sz="2800" dirty="0"/>
          </a:p>
        </p:txBody>
      </p:sp>
      <p:sp>
        <p:nvSpPr>
          <p:cNvPr id="3" name="Text 1"/>
          <p:cNvSpPr/>
          <p:nvPr/>
        </p:nvSpPr>
        <p:spPr>
          <a:xfrm>
            <a:off x="548640" y="1234440"/>
            <a:ext cx="4297680" cy="3200400"/>
          </a:xfrm>
          <a:prstGeom prst="rect">
            <a:avLst/>
          </a:prstGeom>
          <a:noFill/>
          <a:ln/>
        </p:spPr>
        <p:txBody>
          <a:bodyPr wrap="square" lIns="0" tIns="0" rIns="0" bIns="0" rtlCol="0" anchor="t"/>
          <a:lstStyle/>
          <a:p>
            <a:pPr indent="0" marL="0">
              <a:lnSpc>
                <a:spcPct val="112000"/>
              </a:lnSpc>
              <a:buNone/>
            </a:pPr>
            <a:r>
              <a:rPr lang="en-US" sz="1450" dirty="0">
                <a:solidFill>
                  <a:srgbClr val="14312E"/>
                </a:solidFill>
                <a:latin typeface="Calibri" pitchFamily="34" charset="0"/>
                <a:ea typeface="Calibri" pitchFamily="34" charset="-122"/>
                <a:cs typeface="Calibri" pitchFamily="34" charset="-120"/>
              </a:rPr>
              <a:t>A single-page web app for logging and filtering operational incidents, built with plain HTML, CSS, and JavaScript. It stores data in the browser, filters live as you type, and stays fully responsive — proving front-end fundamentals without leaning on a framework.</a:t>
            </a:r>
            <a:endParaRPr lang="en-US" sz="1450" dirty="0"/>
          </a:p>
        </p:txBody>
      </p:sp>
      <p:sp>
        <p:nvSpPr>
          <p:cNvPr id="4" name="Shape 2"/>
          <p:cNvSpPr/>
          <p:nvPr/>
        </p:nvSpPr>
        <p:spPr>
          <a:xfrm>
            <a:off x="5212080" y="1280160"/>
            <a:ext cx="338328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5" name="Text 3"/>
          <p:cNvSpPr/>
          <p:nvPr/>
        </p:nvSpPr>
        <p:spPr>
          <a:xfrm>
            <a:off x="5303520" y="1444752"/>
            <a:ext cx="3200400" cy="685800"/>
          </a:xfrm>
          <a:prstGeom prst="rect">
            <a:avLst/>
          </a:prstGeom>
          <a:noFill/>
          <a:ln/>
        </p:spPr>
        <p:txBody>
          <a:bodyPr wrap="square" lIns="0" tIns="0" rIns="0" bIns="0" rtlCol="0" anchor="ctr"/>
          <a:lstStyle/>
          <a:p>
            <a:pPr algn="ctr" indent="0" marL="0">
              <a:buNone/>
            </a:pPr>
            <a:r>
              <a:rPr lang="en-US" sz="3400" b="1" dirty="0">
                <a:solidFill>
                  <a:srgbClr val="00A896"/>
                </a:solidFill>
                <a:latin typeface="Century Schoolbook" pitchFamily="34" charset="0"/>
                <a:ea typeface="Century Schoolbook" pitchFamily="34" charset="-122"/>
                <a:cs typeface="Century Schoolbook" pitchFamily="34" charset="-120"/>
              </a:rPr>
              <a:t>0</a:t>
            </a:r>
            <a:endParaRPr lang="en-US" sz="3400" dirty="0"/>
          </a:p>
        </p:txBody>
      </p:sp>
      <p:sp>
        <p:nvSpPr>
          <p:cNvPr id="6" name="Text 4"/>
          <p:cNvSpPr/>
          <p:nvPr/>
        </p:nvSpPr>
        <p:spPr>
          <a:xfrm>
            <a:off x="5321808" y="2148840"/>
            <a:ext cx="3163824" cy="457200"/>
          </a:xfrm>
          <a:prstGeom prst="rect">
            <a:avLst/>
          </a:prstGeom>
          <a:noFill/>
          <a:ln/>
        </p:spPr>
        <p:txBody>
          <a:bodyPr wrap="square" lIns="0" tIns="0" rIns="0" bIns="0" rtlCol="0" anchor="ctr"/>
          <a:lstStyle/>
          <a:p>
            <a:pPr algn="ctr" indent="0" marL="0">
              <a:buNone/>
            </a:pPr>
            <a:r>
              <a:rPr lang="en-US" sz="1150" dirty="0">
                <a:solidFill>
                  <a:srgbClr val="5B7A78"/>
                </a:solidFill>
                <a:latin typeface="Calibri" pitchFamily="34" charset="0"/>
                <a:ea typeface="Calibri" pitchFamily="34" charset="-122"/>
                <a:cs typeface="Calibri" pitchFamily="34" charset="-120"/>
              </a:rPr>
              <a:t>dependencies</a:t>
            </a:r>
            <a:endParaRPr lang="en-US" sz="1150" dirty="0"/>
          </a:p>
        </p:txBody>
      </p:sp>
      <p:sp>
        <p:nvSpPr>
          <p:cNvPr id="7" name="Shape 5"/>
          <p:cNvSpPr/>
          <p:nvPr/>
        </p:nvSpPr>
        <p:spPr>
          <a:xfrm>
            <a:off x="5212080" y="2880360"/>
            <a:ext cx="338328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8" name="Text 6"/>
          <p:cNvSpPr/>
          <p:nvPr/>
        </p:nvSpPr>
        <p:spPr>
          <a:xfrm>
            <a:off x="5303520" y="3044952"/>
            <a:ext cx="3200400" cy="685800"/>
          </a:xfrm>
          <a:prstGeom prst="rect">
            <a:avLst/>
          </a:prstGeom>
          <a:noFill/>
          <a:ln/>
        </p:spPr>
        <p:txBody>
          <a:bodyPr wrap="square" lIns="0" tIns="0" rIns="0" bIns="0" rtlCol="0" anchor="ctr"/>
          <a:lstStyle/>
          <a:p>
            <a:pPr algn="ctr" indent="0" marL="0">
              <a:buNone/>
            </a:pPr>
            <a:r>
              <a:rPr lang="en-US" sz="3400" b="1" dirty="0">
                <a:solidFill>
                  <a:srgbClr val="00A896"/>
                </a:solidFill>
                <a:latin typeface="Century Schoolbook" pitchFamily="34" charset="0"/>
                <a:ea typeface="Century Schoolbook" pitchFamily="34" charset="-122"/>
                <a:cs typeface="Century Schoolbook" pitchFamily="34" charset="-120"/>
              </a:rPr>
              <a:t>1 file</a:t>
            </a:r>
            <a:endParaRPr lang="en-US" sz="3400" dirty="0"/>
          </a:p>
        </p:txBody>
      </p:sp>
      <p:sp>
        <p:nvSpPr>
          <p:cNvPr id="9" name="Text 7"/>
          <p:cNvSpPr/>
          <p:nvPr/>
        </p:nvSpPr>
        <p:spPr>
          <a:xfrm>
            <a:off x="5321808" y="3749040"/>
            <a:ext cx="3163824" cy="457200"/>
          </a:xfrm>
          <a:prstGeom prst="rect">
            <a:avLst/>
          </a:prstGeom>
          <a:noFill/>
          <a:ln/>
        </p:spPr>
        <p:txBody>
          <a:bodyPr wrap="square" lIns="0" tIns="0" rIns="0" bIns="0" rtlCol="0" anchor="ctr"/>
          <a:lstStyle/>
          <a:p>
            <a:pPr algn="ctr" indent="0" marL="0">
              <a:buNone/>
            </a:pPr>
            <a:r>
              <a:rPr lang="en-US" sz="1150" dirty="0">
                <a:solidFill>
                  <a:srgbClr val="5B7A78"/>
                </a:solidFill>
                <a:latin typeface="Calibri" pitchFamily="34" charset="0"/>
                <a:ea typeface="Calibri" pitchFamily="34" charset="-122"/>
                <a:cs typeface="Calibri" pitchFamily="34" charset="-120"/>
              </a:rPr>
              <a:t>to run — open index.html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AF8"/>
        </a:solidFill>
      </p:bgPr>
    </p:bg>
    <p:spTree>
      <p:nvGrpSpPr>
        <p:cNvPr id="1" name=""/>
        <p:cNvGrpSpPr/>
        <p:nvPr/>
      </p:nvGrpSpPr>
      <p:grpSpPr>
        <a:xfrm>
          <a:off x="0" y="0"/>
          <a:ext cx="0" cy="0"/>
          <a:chOff x="0" y="0"/>
          <a:chExt cx="0" cy="0"/>
        </a:xfrm>
      </p:grpSpPr>
      <p:sp>
        <p:nvSpPr>
          <p:cNvPr id="2" name="Text 0"/>
          <p:cNvSpPr/>
          <p:nvPr/>
        </p:nvSpPr>
        <p:spPr>
          <a:xfrm>
            <a:off x="548640" y="384048"/>
            <a:ext cx="8229600" cy="640080"/>
          </a:xfrm>
          <a:prstGeom prst="rect">
            <a:avLst/>
          </a:prstGeom>
          <a:noFill/>
          <a:ln/>
        </p:spPr>
        <p:txBody>
          <a:bodyPr wrap="square" lIns="0" tIns="0" rIns="0" bIns="0" rtlCol="0" anchor="ctr"/>
          <a:lstStyle/>
          <a:p>
            <a:pPr indent="0" marL="0">
              <a:buNone/>
            </a:pPr>
            <a:r>
              <a:rPr lang="en-US" sz="2800" b="1" dirty="0">
                <a:solidFill>
                  <a:srgbClr val="028090"/>
                </a:solidFill>
                <a:latin typeface="Century Schoolbook" pitchFamily="34" charset="0"/>
                <a:ea typeface="Century Schoolbook" pitchFamily="34" charset="-122"/>
                <a:cs typeface="Century Schoolbook" pitchFamily="34" charset="-120"/>
              </a:rPr>
              <a:t>What it captures</a:t>
            </a:r>
            <a:endParaRPr lang="en-US" sz="2800" dirty="0"/>
          </a:p>
        </p:txBody>
      </p:sp>
      <p:graphicFrame>
        <p:nvGraphicFramePr>
          <p:cNvPr id="3" name="Chart 0" descr=""/>
          <p:cNvGraphicFramePr/>
          <p:nvPr/>
        </p:nvGraphicFramePr>
        <p:xfrm>
          <a:off x="640080" y="1371600"/>
          <a:ext cx="4023360" cy="31089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029200" y="1371600"/>
            <a:ext cx="3566160" cy="3017520"/>
          </a:xfrm>
          <a:prstGeom prst="roundRect">
            <a:avLst>
              <a:gd name="adj" fmla="val 2727"/>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5" name="Text 2"/>
          <p:cNvSpPr/>
          <p:nvPr/>
        </p:nvSpPr>
        <p:spPr>
          <a:xfrm>
            <a:off x="5230368" y="1517904"/>
            <a:ext cx="3163824" cy="36576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Every entry captures</a:t>
            </a:r>
            <a:endParaRPr lang="en-US" sz="1400" dirty="0"/>
          </a:p>
        </p:txBody>
      </p:sp>
      <p:sp>
        <p:nvSpPr>
          <p:cNvPr id="6" name="Text 3"/>
          <p:cNvSpPr/>
          <p:nvPr/>
        </p:nvSpPr>
        <p:spPr>
          <a:xfrm>
            <a:off x="5230368" y="1920240"/>
            <a:ext cx="3163824" cy="2331720"/>
          </a:xfrm>
          <a:prstGeom prst="rect">
            <a:avLst/>
          </a:prstGeom>
          <a:noFill/>
          <a:ln/>
        </p:spPr>
        <p:txBody>
          <a:bodyPr wrap="square" lIns="0" tIns="0" rIns="0" bIns="0" rtlCol="0" anchor="t"/>
          <a:lstStyle/>
          <a:p>
            <a:pPr indent="0" marL="0">
              <a:lnSpc>
                <a:spcPct val="102000"/>
              </a:lnSpc>
              <a:buNone/>
            </a:pPr>
            <a:r>
              <a:rPr lang="en-US" sz="1250" dirty="0">
                <a:solidFill>
                  <a:srgbClr val="14312E"/>
                </a:solidFill>
                <a:latin typeface="Calibri" pitchFamily="34" charset="0"/>
                <a:ea typeface="Calibri" pitchFamily="34" charset="-122"/>
                <a:cs typeface="Calibri" pitchFamily="34" charset="-120"/>
              </a:rPr>
              <a:t>Title and category (5 types)</a:t>
            </a:r>
            <a:endParaRPr lang="en-US" sz="1250" dirty="0"/>
          </a:p>
          <a:p>
            <a:pPr indent="0" marL="0">
              <a:lnSpc>
                <a:spcPct val="102000"/>
              </a:lnSpc>
              <a:buNone/>
            </a:pPr>
            <a:r>
              <a:rPr lang="en-US" sz="1250" dirty="0">
                <a:solidFill>
                  <a:srgbClr val="14312E"/>
                </a:solidFill>
                <a:latin typeface="Calibri" pitchFamily="34" charset="0"/>
                <a:ea typeface="Calibri" pitchFamily="34" charset="-122"/>
                <a:cs typeface="Calibri" pitchFamily="34" charset="-120"/>
              </a:rPr>
              <a:t>Priority: high / medium / low</a:t>
            </a:r>
            <a:endParaRPr lang="en-US" sz="1250" dirty="0"/>
          </a:p>
          <a:p>
            <a:pPr indent="0" marL="0">
              <a:lnSpc>
                <a:spcPct val="102000"/>
              </a:lnSpc>
              <a:buNone/>
            </a:pPr>
            <a:r>
              <a:rPr lang="en-US" sz="1250" dirty="0">
                <a:solidFill>
                  <a:srgbClr val="14312E"/>
                </a:solidFill>
                <a:latin typeface="Calibri" pitchFamily="34" charset="0"/>
                <a:ea typeface="Calibri" pitchFamily="34" charset="-122"/>
                <a:cs typeface="Calibri" pitchFamily="34" charset="-120"/>
              </a:rPr>
              <a:t>Timestamp (auto)</a:t>
            </a:r>
            <a:endParaRPr lang="en-US" sz="1250" dirty="0"/>
          </a:p>
          <a:p>
            <a:pPr indent="0" marL="0">
              <a:lnSpc>
                <a:spcPct val="102000"/>
              </a:lnSpc>
              <a:buNone/>
            </a:pPr>
            <a:r>
              <a:rPr lang="en-US" sz="1250" dirty="0">
                <a:solidFill>
                  <a:srgbClr val="14312E"/>
                </a:solidFill>
                <a:latin typeface="Calibri" pitchFamily="34" charset="0"/>
                <a:ea typeface="Calibri" pitchFamily="34" charset="-122"/>
                <a:cs typeface="Calibri" pitchFamily="34" charset="-120"/>
              </a:rPr>
              <a:t>Free-text notes</a:t>
            </a:r>
            <a:endParaRPr lang="en-US" sz="1250" dirty="0"/>
          </a:p>
          <a:p>
            <a:pPr indent="0" marL="0">
              <a:lnSpc>
                <a:spcPct val="102000"/>
              </a:lnSpc>
              <a:buNone/>
            </a:pPr>
            <a:endParaRPr lang="en-US" sz="1250" dirty="0"/>
          </a:p>
          <a:p>
            <a:pPr indent="0" marL="0">
              <a:lnSpc>
                <a:spcPct val="102000"/>
              </a:lnSpc>
              <a:buNone/>
            </a:pPr>
            <a:r>
              <a:rPr lang="en-US" sz="1250" dirty="0">
                <a:solidFill>
                  <a:srgbClr val="14312E"/>
                </a:solidFill>
                <a:latin typeface="Calibri" pitchFamily="34" charset="0"/>
                <a:ea typeface="Calibri" pitchFamily="34" charset="-122"/>
                <a:cs typeface="Calibri" pitchFamily="34" charset="-120"/>
              </a:rPr>
              <a:t>Live filter + running high-priority count.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AF8"/>
        </a:solidFill>
      </p:bgPr>
    </p:bg>
    <p:spTree>
      <p:nvGrpSpPr>
        <p:cNvPr id="1" name=""/>
        <p:cNvGrpSpPr/>
        <p:nvPr/>
      </p:nvGrpSpPr>
      <p:grpSpPr>
        <a:xfrm>
          <a:off x="0" y="0"/>
          <a:ext cx="0" cy="0"/>
          <a:chOff x="0" y="0"/>
          <a:chExt cx="0" cy="0"/>
        </a:xfrm>
      </p:grpSpPr>
      <p:sp>
        <p:nvSpPr>
          <p:cNvPr id="2" name="Text 0"/>
          <p:cNvSpPr/>
          <p:nvPr/>
        </p:nvSpPr>
        <p:spPr>
          <a:xfrm>
            <a:off x="548640" y="384048"/>
            <a:ext cx="8229600" cy="640080"/>
          </a:xfrm>
          <a:prstGeom prst="rect">
            <a:avLst/>
          </a:prstGeom>
          <a:noFill/>
          <a:ln/>
        </p:spPr>
        <p:txBody>
          <a:bodyPr wrap="square" lIns="0" tIns="0" rIns="0" bIns="0" rtlCol="0" anchor="ctr"/>
          <a:lstStyle/>
          <a:p>
            <a:pPr indent="0" marL="0">
              <a:buNone/>
            </a:pPr>
            <a:r>
              <a:rPr lang="en-US" sz="2800" b="1" dirty="0">
                <a:solidFill>
                  <a:srgbClr val="028090"/>
                </a:solidFill>
                <a:latin typeface="Century Schoolbook" pitchFamily="34" charset="0"/>
                <a:ea typeface="Century Schoolbook" pitchFamily="34" charset="-122"/>
                <a:cs typeface="Century Schoolbook" pitchFamily="34" charset="-120"/>
              </a:rPr>
              <a:t>How it's built</a:t>
            </a:r>
            <a:endParaRPr lang="en-US" sz="2800" dirty="0"/>
          </a:p>
        </p:txBody>
      </p:sp>
      <p:sp>
        <p:nvSpPr>
          <p:cNvPr id="3" name="Shape 1"/>
          <p:cNvSpPr/>
          <p:nvPr/>
        </p:nvSpPr>
        <p:spPr>
          <a:xfrm>
            <a:off x="548640" y="1234440"/>
            <a:ext cx="402336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4" name="Text 2"/>
          <p:cNvSpPr/>
          <p:nvPr/>
        </p:nvSpPr>
        <p:spPr>
          <a:xfrm>
            <a:off x="749808" y="1380744"/>
            <a:ext cx="3621024" cy="36576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Separation of concerns</a:t>
            </a:r>
            <a:endParaRPr lang="en-US" sz="1400" dirty="0"/>
          </a:p>
        </p:txBody>
      </p:sp>
      <p:sp>
        <p:nvSpPr>
          <p:cNvPr id="5" name="Text 3"/>
          <p:cNvSpPr/>
          <p:nvPr/>
        </p:nvSpPr>
        <p:spPr>
          <a:xfrm>
            <a:off x="749808" y="1783080"/>
            <a:ext cx="3621024" cy="731520"/>
          </a:xfrm>
          <a:prstGeom prst="rect">
            <a:avLst/>
          </a:prstGeom>
          <a:noFill/>
          <a:ln/>
        </p:spPr>
        <p:txBody>
          <a:bodyPr wrap="square" lIns="0" tIns="0" rIns="0" bIns="0" rtlCol="0" anchor="t"/>
          <a:lstStyle/>
          <a:p>
            <a:pPr indent="0" marL="0">
              <a:lnSpc>
                <a:spcPct val="102000"/>
              </a:lnSpc>
              <a:buNone/>
            </a:pPr>
            <a:r>
              <a:rPr lang="en-US" sz="1250" dirty="0">
                <a:solidFill>
                  <a:srgbClr val="14312E"/>
                </a:solidFill>
                <a:latin typeface="Calibri" pitchFamily="34" charset="0"/>
                <a:ea typeface="Calibri" pitchFamily="34" charset="-122"/>
                <a:cs typeface="Calibri" pitchFamily="34" charset="-120"/>
              </a:rPr>
              <a:t>Structure (HTML), style (CSS variables), behaviour (JS) in clean, separate files.</a:t>
            </a:r>
            <a:endParaRPr lang="en-US" sz="1250" dirty="0"/>
          </a:p>
        </p:txBody>
      </p:sp>
      <p:sp>
        <p:nvSpPr>
          <p:cNvPr id="6" name="Shape 4"/>
          <p:cNvSpPr/>
          <p:nvPr/>
        </p:nvSpPr>
        <p:spPr>
          <a:xfrm>
            <a:off x="4892040" y="1234440"/>
            <a:ext cx="402336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7" name="Text 5"/>
          <p:cNvSpPr/>
          <p:nvPr/>
        </p:nvSpPr>
        <p:spPr>
          <a:xfrm>
            <a:off x="5093208" y="1380744"/>
            <a:ext cx="3621024" cy="36576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State + persistence</a:t>
            </a:r>
            <a:endParaRPr lang="en-US" sz="1400" dirty="0"/>
          </a:p>
        </p:txBody>
      </p:sp>
      <p:sp>
        <p:nvSpPr>
          <p:cNvPr id="8" name="Text 6"/>
          <p:cNvSpPr/>
          <p:nvPr/>
        </p:nvSpPr>
        <p:spPr>
          <a:xfrm>
            <a:off x="5093208" y="1783080"/>
            <a:ext cx="3621024" cy="731520"/>
          </a:xfrm>
          <a:prstGeom prst="rect">
            <a:avLst/>
          </a:prstGeom>
          <a:noFill/>
          <a:ln/>
        </p:spPr>
        <p:txBody>
          <a:bodyPr wrap="square" lIns="0" tIns="0" rIns="0" bIns="0" rtlCol="0" anchor="t"/>
          <a:lstStyle/>
          <a:p>
            <a:pPr indent="0" marL="0">
              <a:lnSpc>
                <a:spcPct val="102000"/>
              </a:lnSpc>
              <a:buNone/>
            </a:pPr>
            <a:r>
              <a:rPr lang="en-US" sz="1250" dirty="0">
                <a:solidFill>
                  <a:srgbClr val="14312E"/>
                </a:solidFill>
                <a:latin typeface="Calibri" pitchFamily="34" charset="0"/>
                <a:ea typeface="Calibri" pitchFamily="34" charset="-122"/>
                <a:cs typeface="Calibri" pitchFamily="34" charset="-120"/>
              </a:rPr>
              <a:t>App state saved to localStorage — entries survive a refresh.</a:t>
            </a:r>
            <a:endParaRPr lang="en-US" sz="1250" dirty="0"/>
          </a:p>
        </p:txBody>
      </p:sp>
      <p:sp>
        <p:nvSpPr>
          <p:cNvPr id="9" name="Shape 7"/>
          <p:cNvSpPr/>
          <p:nvPr/>
        </p:nvSpPr>
        <p:spPr>
          <a:xfrm>
            <a:off x="548640" y="2926080"/>
            <a:ext cx="402336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10" name="Text 8"/>
          <p:cNvSpPr/>
          <p:nvPr/>
        </p:nvSpPr>
        <p:spPr>
          <a:xfrm>
            <a:off x="749808" y="3072384"/>
            <a:ext cx="3621024" cy="36576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Live filtering</a:t>
            </a:r>
            <a:endParaRPr lang="en-US" sz="1400" dirty="0"/>
          </a:p>
        </p:txBody>
      </p:sp>
      <p:sp>
        <p:nvSpPr>
          <p:cNvPr id="11" name="Text 9"/>
          <p:cNvSpPr/>
          <p:nvPr/>
        </p:nvSpPr>
        <p:spPr>
          <a:xfrm>
            <a:off x="749808" y="3474720"/>
            <a:ext cx="3621024" cy="731520"/>
          </a:xfrm>
          <a:prstGeom prst="rect">
            <a:avLst/>
          </a:prstGeom>
          <a:noFill/>
          <a:ln/>
        </p:spPr>
        <p:txBody>
          <a:bodyPr wrap="square" lIns="0" tIns="0" rIns="0" bIns="0" rtlCol="0" anchor="t"/>
          <a:lstStyle/>
          <a:p>
            <a:pPr indent="0" marL="0">
              <a:lnSpc>
                <a:spcPct val="102000"/>
              </a:lnSpc>
              <a:buNone/>
            </a:pPr>
            <a:r>
              <a:rPr lang="en-US" sz="1250" dirty="0">
                <a:solidFill>
                  <a:srgbClr val="14312E"/>
                </a:solidFill>
                <a:latin typeface="Calibri" pitchFamily="34" charset="0"/>
                <a:ea typeface="Calibri" pitchFamily="34" charset="-122"/>
                <a:cs typeface="Calibri" pitchFamily="34" charset="-120"/>
              </a:rPr>
              <a:t>Search box filters the log instantly with a running high-priority count.</a:t>
            </a:r>
            <a:endParaRPr lang="en-US" sz="1250" dirty="0"/>
          </a:p>
        </p:txBody>
      </p:sp>
      <p:sp>
        <p:nvSpPr>
          <p:cNvPr id="12" name="Shape 10"/>
          <p:cNvSpPr/>
          <p:nvPr/>
        </p:nvSpPr>
        <p:spPr>
          <a:xfrm>
            <a:off x="4892040" y="2926080"/>
            <a:ext cx="4023360" cy="1417320"/>
          </a:xfrm>
          <a:prstGeom prst="roundRect">
            <a:avLst>
              <a:gd name="adj" fmla="val 5806"/>
            </a:avLst>
          </a:prstGeom>
          <a:solidFill>
            <a:srgbClr val="FFFFFF"/>
          </a:solidFill>
          <a:ln w="12700">
            <a:solidFill>
              <a:srgbClr val="E4E9F0"/>
            </a:solidFill>
            <a:prstDash val="solid"/>
          </a:ln>
          <a:effectLst>
            <a:outerShdw sx="100000" sy="100000" kx="0" ky="0" algn="bl" rotWithShape="0" blurRad="114300" dist="38100" dir="5400000">
              <a:srgbClr val="000000">
                <a:alpha val="16000"/>
              </a:srgbClr>
            </a:outerShdw>
          </a:effectLst>
        </p:spPr>
      </p:sp>
      <p:sp>
        <p:nvSpPr>
          <p:cNvPr id="13" name="Text 11"/>
          <p:cNvSpPr/>
          <p:nvPr/>
        </p:nvSpPr>
        <p:spPr>
          <a:xfrm>
            <a:off x="5093208" y="3072384"/>
            <a:ext cx="3621024" cy="36576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Responsive UI</a:t>
            </a:r>
            <a:endParaRPr lang="en-US" sz="1400" dirty="0"/>
          </a:p>
        </p:txBody>
      </p:sp>
      <p:sp>
        <p:nvSpPr>
          <p:cNvPr id="14" name="Text 12"/>
          <p:cNvSpPr/>
          <p:nvPr/>
        </p:nvSpPr>
        <p:spPr>
          <a:xfrm>
            <a:off x="5093208" y="3474720"/>
            <a:ext cx="3621024" cy="731520"/>
          </a:xfrm>
          <a:prstGeom prst="rect">
            <a:avLst/>
          </a:prstGeom>
          <a:noFill/>
          <a:ln/>
        </p:spPr>
        <p:txBody>
          <a:bodyPr wrap="square" lIns="0" tIns="0" rIns="0" bIns="0" rtlCol="0" anchor="t"/>
          <a:lstStyle/>
          <a:p>
            <a:pPr indent="0" marL="0">
              <a:lnSpc>
                <a:spcPct val="102000"/>
              </a:lnSpc>
              <a:buNone/>
            </a:pPr>
            <a:r>
              <a:rPr lang="en-US" sz="1250" dirty="0">
                <a:solidFill>
                  <a:srgbClr val="14312E"/>
                </a:solidFill>
                <a:latin typeface="Calibri" pitchFamily="34" charset="0"/>
                <a:ea typeface="Calibri" pitchFamily="34" charset="-122"/>
                <a:cs typeface="Calibri" pitchFamily="34" charset="-120"/>
              </a:rPr>
              <a:t>CSS grid + table adapt cleanly from desktop to mobile.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AF8"/>
        </a:solidFill>
      </p:bgPr>
    </p:bg>
    <p:spTree>
      <p:nvGrpSpPr>
        <p:cNvPr id="1" name=""/>
        <p:cNvGrpSpPr/>
        <p:nvPr/>
      </p:nvGrpSpPr>
      <p:grpSpPr>
        <a:xfrm>
          <a:off x="0" y="0"/>
          <a:ext cx="0" cy="0"/>
          <a:chOff x="0" y="0"/>
          <a:chExt cx="0" cy="0"/>
        </a:xfrm>
      </p:grpSpPr>
      <p:sp>
        <p:nvSpPr>
          <p:cNvPr id="2" name="Text 0"/>
          <p:cNvSpPr/>
          <p:nvPr/>
        </p:nvSpPr>
        <p:spPr>
          <a:xfrm>
            <a:off x="548640" y="384048"/>
            <a:ext cx="8229600" cy="640080"/>
          </a:xfrm>
          <a:prstGeom prst="rect">
            <a:avLst/>
          </a:prstGeom>
          <a:noFill/>
          <a:ln/>
        </p:spPr>
        <p:txBody>
          <a:bodyPr wrap="square" lIns="0" tIns="0" rIns="0" bIns="0" rtlCol="0" anchor="ctr"/>
          <a:lstStyle/>
          <a:p>
            <a:pPr indent="0" marL="0">
              <a:buNone/>
            </a:pPr>
            <a:r>
              <a:rPr lang="en-US" sz="2800" b="1" dirty="0">
                <a:solidFill>
                  <a:srgbClr val="028090"/>
                </a:solidFill>
                <a:latin typeface="Century Schoolbook" pitchFamily="34" charset="0"/>
                <a:ea typeface="Century Schoolbook" pitchFamily="34" charset="-122"/>
                <a:cs typeface="Century Schoolbook" pitchFamily="34" charset="-120"/>
              </a:rPr>
              <a:t>Skills demonstrated</a:t>
            </a:r>
            <a:endParaRPr lang="en-US" sz="2800" dirty="0"/>
          </a:p>
        </p:txBody>
      </p:sp>
      <p:sp>
        <p:nvSpPr>
          <p:cNvPr id="3" name="Text 1"/>
          <p:cNvSpPr/>
          <p:nvPr/>
        </p:nvSpPr>
        <p:spPr>
          <a:xfrm>
            <a:off x="548640" y="1234440"/>
            <a:ext cx="8046720" cy="640080"/>
          </a:xfrm>
          <a:prstGeom prst="rect">
            <a:avLst/>
          </a:prstGeom>
          <a:noFill/>
          <a:ln/>
        </p:spPr>
        <p:txBody>
          <a:bodyPr wrap="square" lIns="0" tIns="0" rIns="0" bIns="0" rtlCol="0" anchor="ctr"/>
          <a:lstStyle/>
          <a:p>
            <a:pPr indent="0" marL="0">
              <a:buNone/>
            </a:pPr>
            <a:r>
              <a:rPr lang="en-US" sz="1400" dirty="0">
                <a:solidFill>
                  <a:srgbClr val="14312E"/>
                </a:solidFill>
                <a:latin typeface="Calibri" pitchFamily="34" charset="0"/>
                <a:ea typeface="Calibri" pitchFamily="34" charset="-122"/>
                <a:cs typeface="Calibri" pitchFamily="34" charset="-120"/>
              </a:rPr>
              <a:t>Front-end craft, framework-free:</a:t>
            </a:r>
            <a:endParaRPr lang="en-US" sz="1400" dirty="0"/>
          </a:p>
        </p:txBody>
      </p:sp>
      <p:sp>
        <p:nvSpPr>
          <p:cNvPr id="4" name="Shape 2"/>
          <p:cNvSpPr/>
          <p:nvPr/>
        </p:nvSpPr>
        <p:spPr>
          <a:xfrm>
            <a:off x="548640" y="2057400"/>
            <a:ext cx="589788" cy="384048"/>
          </a:xfrm>
          <a:prstGeom prst="roundRect">
            <a:avLst>
              <a:gd name="adj" fmla="val 50000"/>
            </a:avLst>
          </a:prstGeom>
          <a:solidFill>
            <a:srgbClr val="028090"/>
          </a:solidFill>
          <a:ln/>
        </p:spPr>
      </p:sp>
      <p:sp>
        <p:nvSpPr>
          <p:cNvPr id="5" name="Text 3"/>
          <p:cNvSpPr/>
          <p:nvPr/>
        </p:nvSpPr>
        <p:spPr>
          <a:xfrm>
            <a:off x="548640" y="2057400"/>
            <a:ext cx="589788"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HTML5</a:t>
            </a:r>
            <a:endParaRPr lang="en-US" sz="1200" dirty="0"/>
          </a:p>
        </p:txBody>
      </p:sp>
      <p:sp>
        <p:nvSpPr>
          <p:cNvPr id="6" name="Shape 4"/>
          <p:cNvSpPr/>
          <p:nvPr/>
        </p:nvSpPr>
        <p:spPr>
          <a:xfrm>
            <a:off x="1284732" y="2057400"/>
            <a:ext cx="512064" cy="384048"/>
          </a:xfrm>
          <a:prstGeom prst="roundRect">
            <a:avLst>
              <a:gd name="adj" fmla="val 50000"/>
            </a:avLst>
          </a:prstGeom>
          <a:solidFill>
            <a:srgbClr val="028090"/>
          </a:solidFill>
          <a:ln/>
        </p:spPr>
      </p:sp>
      <p:sp>
        <p:nvSpPr>
          <p:cNvPr id="7" name="Text 5"/>
          <p:cNvSpPr/>
          <p:nvPr/>
        </p:nvSpPr>
        <p:spPr>
          <a:xfrm>
            <a:off x="1284732" y="2057400"/>
            <a:ext cx="512064"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CSS3</a:t>
            </a:r>
            <a:endParaRPr lang="en-US" sz="1200" dirty="0"/>
          </a:p>
        </p:txBody>
      </p:sp>
      <p:sp>
        <p:nvSpPr>
          <p:cNvPr id="8" name="Shape 6"/>
          <p:cNvSpPr/>
          <p:nvPr/>
        </p:nvSpPr>
        <p:spPr>
          <a:xfrm>
            <a:off x="1943100" y="2057400"/>
            <a:ext cx="1444752" cy="384048"/>
          </a:xfrm>
          <a:prstGeom prst="roundRect">
            <a:avLst>
              <a:gd name="adj" fmla="val 50000"/>
            </a:avLst>
          </a:prstGeom>
          <a:solidFill>
            <a:srgbClr val="028090"/>
          </a:solidFill>
          <a:ln/>
        </p:spPr>
      </p:sp>
      <p:sp>
        <p:nvSpPr>
          <p:cNvPr id="9" name="Text 7"/>
          <p:cNvSpPr/>
          <p:nvPr/>
        </p:nvSpPr>
        <p:spPr>
          <a:xfrm>
            <a:off x="1943100" y="2057400"/>
            <a:ext cx="1444752"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JavaScript (ES6)</a:t>
            </a:r>
            <a:endParaRPr lang="en-US" sz="1200" dirty="0"/>
          </a:p>
        </p:txBody>
      </p:sp>
      <p:sp>
        <p:nvSpPr>
          <p:cNvPr id="10" name="Shape 8"/>
          <p:cNvSpPr/>
          <p:nvPr/>
        </p:nvSpPr>
        <p:spPr>
          <a:xfrm>
            <a:off x="3534156" y="2057400"/>
            <a:ext cx="1444752" cy="384048"/>
          </a:xfrm>
          <a:prstGeom prst="roundRect">
            <a:avLst>
              <a:gd name="adj" fmla="val 50000"/>
            </a:avLst>
          </a:prstGeom>
          <a:solidFill>
            <a:srgbClr val="028090"/>
          </a:solidFill>
          <a:ln/>
        </p:spPr>
      </p:sp>
      <p:sp>
        <p:nvSpPr>
          <p:cNvPr id="11" name="Text 9"/>
          <p:cNvSpPr/>
          <p:nvPr/>
        </p:nvSpPr>
        <p:spPr>
          <a:xfrm>
            <a:off x="3534156" y="2057400"/>
            <a:ext cx="1444752"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DOM manipulation</a:t>
            </a:r>
            <a:endParaRPr lang="en-US" sz="1200" dirty="0"/>
          </a:p>
        </p:txBody>
      </p:sp>
      <p:sp>
        <p:nvSpPr>
          <p:cNvPr id="12" name="Shape 10"/>
          <p:cNvSpPr/>
          <p:nvPr/>
        </p:nvSpPr>
        <p:spPr>
          <a:xfrm>
            <a:off x="5125212" y="2057400"/>
            <a:ext cx="1289304" cy="384048"/>
          </a:xfrm>
          <a:prstGeom prst="roundRect">
            <a:avLst>
              <a:gd name="adj" fmla="val 50000"/>
            </a:avLst>
          </a:prstGeom>
          <a:solidFill>
            <a:srgbClr val="028090"/>
          </a:solidFill>
          <a:ln/>
        </p:spPr>
      </p:sp>
      <p:sp>
        <p:nvSpPr>
          <p:cNvPr id="13" name="Text 11"/>
          <p:cNvSpPr/>
          <p:nvPr/>
        </p:nvSpPr>
        <p:spPr>
          <a:xfrm>
            <a:off x="5125212" y="2057400"/>
            <a:ext cx="1289304"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Event handling</a:t>
            </a:r>
            <a:endParaRPr lang="en-US" sz="1200" dirty="0"/>
          </a:p>
        </p:txBody>
      </p:sp>
      <p:sp>
        <p:nvSpPr>
          <p:cNvPr id="14" name="Shape 12"/>
          <p:cNvSpPr/>
          <p:nvPr/>
        </p:nvSpPr>
        <p:spPr>
          <a:xfrm>
            <a:off x="6560820" y="2057400"/>
            <a:ext cx="1133856" cy="384048"/>
          </a:xfrm>
          <a:prstGeom prst="roundRect">
            <a:avLst>
              <a:gd name="adj" fmla="val 50000"/>
            </a:avLst>
          </a:prstGeom>
          <a:solidFill>
            <a:srgbClr val="028090"/>
          </a:solidFill>
          <a:ln/>
        </p:spPr>
      </p:sp>
      <p:sp>
        <p:nvSpPr>
          <p:cNvPr id="15" name="Text 13"/>
          <p:cNvSpPr/>
          <p:nvPr/>
        </p:nvSpPr>
        <p:spPr>
          <a:xfrm>
            <a:off x="6560820" y="2057400"/>
            <a:ext cx="1133856"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localStorage</a:t>
            </a:r>
            <a:endParaRPr lang="en-US" sz="1200" dirty="0"/>
          </a:p>
        </p:txBody>
      </p:sp>
      <p:sp>
        <p:nvSpPr>
          <p:cNvPr id="16" name="Shape 14"/>
          <p:cNvSpPr/>
          <p:nvPr/>
        </p:nvSpPr>
        <p:spPr>
          <a:xfrm>
            <a:off x="548640" y="2569464"/>
            <a:ext cx="1522476" cy="384048"/>
          </a:xfrm>
          <a:prstGeom prst="roundRect">
            <a:avLst>
              <a:gd name="adj" fmla="val 50000"/>
            </a:avLst>
          </a:prstGeom>
          <a:solidFill>
            <a:srgbClr val="028090"/>
          </a:solidFill>
          <a:ln/>
        </p:spPr>
      </p:sp>
      <p:sp>
        <p:nvSpPr>
          <p:cNvPr id="17" name="Text 15"/>
          <p:cNvSpPr/>
          <p:nvPr/>
        </p:nvSpPr>
        <p:spPr>
          <a:xfrm>
            <a:off x="548640" y="2569464"/>
            <a:ext cx="1522476"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Responsive design</a:t>
            </a:r>
            <a:endParaRPr lang="en-US" sz="1200" dirty="0"/>
          </a:p>
        </p:txBody>
      </p:sp>
      <p:sp>
        <p:nvSpPr>
          <p:cNvPr id="18" name="Shape 16"/>
          <p:cNvSpPr/>
          <p:nvPr/>
        </p:nvSpPr>
        <p:spPr>
          <a:xfrm>
            <a:off x="2217420" y="2569464"/>
            <a:ext cx="822960" cy="384048"/>
          </a:xfrm>
          <a:prstGeom prst="roundRect">
            <a:avLst>
              <a:gd name="adj" fmla="val 50000"/>
            </a:avLst>
          </a:prstGeom>
          <a:solidFill>
            <a:srgbClr val="028090"/>
          </a:solidFill>
          <a:ln/>
        </p:spPr>
      </p:sp>
      <p:sp>
        <p:nvSpPr>
          <p:cNvPr id="19" name="Text 17"/>
          <p:cNvSpPr/>
          <p:nvPr/>
        </p:nvSpPr>
        <p:spPr>
          <a:xfrm>
            <a:off x="2217420" y="2569464"/>
            <a:ext cx="822960" cy="384048"/>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UI state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312E"/>
        </a:solidFill>
      </p:bgPr>
    </p:bg>
    <p:spTree>
      <p:nvGrpSpPr>
        <p:cNvPr id="1" name=""/>
        <p:cNvGrpSpPr/>
        <p:nvPr/>
      </p:nvGrpSpPr>
      <p:grpSpPr>
        <a:xfrm>
          <a:off x="0" y="0"/>
          <a:ext cx="0" cy="0"/>
          <a:chOff x="0" y="0"/>
          <a:chExt cx="0" cy="0"/>
        </a:xfrm>
      </p:grpSpPr>
      <p:sp>
        <p:nvSpPr>
          <p:cNvPr id="2" name="Shape 0"/>
          <p:cNvSpPr/>
          <p:nvPr/>
        </p:nvSpPr>
        <p:spPr>
          <a:xfrm>
            <a:off x="-1188720" y="3108960"/>
            <a:ext cx="3657600" cy="3657600"/>
          </a:xfrm>
          <a:prstGeom prst="ellipse">
            <a:avLst/>
          </a:prstGeom>
          <a:solidFill>
            <a:srgbClr val="00A896">
              <a:alpha val="18000"/>
            </a:srgbClr>
          </a:solidFill>
          <a:ln/>
        </p:spPr>
      </p:sp>
      <p:sp>
        <p:nvSpPr>
          <p:cNvPr id="3" name="Text 1"/>
          <p:cNvSpPr/>
          <p:nvPr/>
        </p:nvSpPr>
        <p:spPr>
          <a:xfrm>
            <a:off x="731520" y="1554480"/>
            <a:ext cx="7680960" cy="12801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entury Schoolbook" pitchFamily="34" charset="0"/>
                <a:ea typeface="Century Schoolbook" pitchFamily="34" charset="-122"/>
                <a:cs typeface="Century Schoolbook" pitchFamily="34" charset="-120"/>
              </a:rPr>
              <a:t>Clean front-end fundamentals — no framework needed to build something real.</a:t>
            </a:r>
            <a:endParaRPr lang="en-US" sz="2600" dirty="0"/>
          </a:p>
        </p:txBody>
      </p:sp>
      <p:sp>
        <p:nvSpPr>
          <p:cNvPr id="4" name="Text 2"/>
          <p:cNvSpPr/>
          <p:nvPr/>
        </p:nvSpPr>
        <p:spPr>
          <a:xfrm>
            <a:off x="749808" y="2971800"/>
            <a:ext cx="7315200" cy="457200"/>
          </a:xfrm>
          <a:prstGeom prst="rect">
            <a:avLst/>
          </a:prstGeom>
          <a:noFill/>
          <a:ln/>
        </p:spPr>
        <p:txBody>
          <a:bodyPr wrap="square" lIns="0" tIns="0" rIns="0" bIns="0"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Yusuf Hakeem</a:t>
            </a:r>
            <a:endParaRPr lang="en-US" sz="1800" dirty="0"/>
          </a:p>
        </p:txBody>
      </p:sp>
      <p:sp>
        <p:nvSpPr>
          <p:cNvPr id="5" name="Text 3"/>
          <p:cNvSpPr/>
          <p:nvPr/>
        </p:nvSpPr>
        <p:spPr>
          <a:xfrm>
            <a:off x="749808" y="3429000"/>
            <a:ext cx="8229600" cy="365760"/>
          </a:xfrm>
          <a:prstGeom prst="rect">
            <a:avLst/>
          </a:prstGeom>
          <a:noFill/>
          <a:ln/>
        </p:spPr>
        <p:txBody>
          <a:bodyPr wrap="square" lIns="0" tIns="0" rIns="0" bIns="0" rtlCol="0" anchor="ctr"/>
          <a:lstStyle/>
          <a:p>
            <a:pPr indent="0" marL="0">
              <a:buNone/>
            </a:pPr>
            <a:r>
              <a:rPr lang="en-US" sz="1250" dirty="0">
                <a:solidFill>
                  <a:srgbClr val="D9E2EC"/>
                </a:solidFill>
                <a:latin typeface="Calibri" pitchFamily="34" charset="0"/>
                <a:ea typeface="Calibri" pitchFamily="34" charset="-122"/>
                <a:cs typeface="Calibri" pitchFamily="34" charset="-120"/>
              </a:rPr>
              <a:t>Manama, Bahrain  •  yusufhakeem.app  •  github.com/ysa7799  •  +973 6666 9795</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Incident Report Web App</dc:title>
  <dc:subject>PptxGenJS Presentation</dc:subject>
  <dc:creator>Yusuf Hakeem</dc:creator>
  <cp:lastModifiedBy>Yusuf Hakeem</cp:lastModifiedBy>
  <cp:revision>1</cp:revision>
  <dcterms:created xsi:type="dcterms:W3CDTF">2026-07-04T07:21:07Z</dcterms:created>
  <dcterms:modified xsi:type="dcterms:W3CDTF">2026-07-04T07:21:07Z</dcterms:modified>
</cp:coreProperties>
</file>